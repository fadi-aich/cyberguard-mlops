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dia\OneDrive\Bureau\Projet ML\screenshots\cover_background.png">    </p:cNvPr>
          <p:cNvPicPr>
            <a:picLocks noChangeAspect="1"/>
          </p:cNvPicPr>
          <p:nvPr/>
        </p:nvPicPr>
        <p:blipFill>
          <a:blip r:embed="rId1"/>
          <a:srcRect l="0" r="0" t="31250" b="3125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86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E7A6"/>
          </a:solidFill>
          <a:ln w="12700">
            <a:solidFill>
              <a:srgbClr val="27E7A6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64592" y="0"/>
            <a:ext cx="45720" cy="6858000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41148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C:\Users\fadia\OneDrive\Bureau\Projet ML\screenshots\ismagi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57" y="475488"/>
            <a:ext cx="1214223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1883664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CyberGuard MLOps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49808" y="25420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E7A6"/>
                </a:solidFill>
              </a:rPr>
              <a:t>Détection d'intrusions IoT avec CICIoT2023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49808" y="29260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9"/>
                </a:solidFill>
              </a:rPr>
              <a:t>FastAPI · MLflow · DVC · Airflow · Docker · Grafana · Streamlit SOC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49808" y="3474720"/>
            <a:ext cx="6675120" cy="0"/>
          </a:xfrm>
          <a:prstGeom prst="line">
            <a:avLst/>
          </a:prstGeom>
          <a:noFill/>
          <a:ln w="15240">
            <a:solidFill>
              <a:srgbClr val="38E8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9808" y="38039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Projet Machine Learning - CI2 CYBER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9808" y="596188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AICH FADI · YOUSSOUF KEITA · LEKOGHO OSSIE CELESTIN CALVINE KILLIAN · MAALLEM MEHDI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49808" y="62910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8B3C7"/>
                </a:solidFill>
              </a:rPr>
              <a:t>Professeur : LAZAAR MOHAMED</a:t>
            </a:r>
            <a:endParaRPr lang="en-US" sz="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Problème et objectif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Transformer un modèle ML en plateforme MLOps exploitable par un SOC.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E7A6"/>
                </a:solidFill>
              </a:rPr>
              <a:t>Question métier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00784"/>
            <a:ext cx="38862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Comment identifier rapidement les flux IoT suspects et prioriser le travail d'un analyste 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83480" y="1389888"/>
            <a:ext cx="621792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D7DEE9"/>
                </a:solidFill>
              </a:rPr>
              <a:t>Classification binaire : bénin vs attaque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Triage SOC : pays source, serveur, sévérité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Traçabilité : données, modèle, expérience, version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Production : API, monitoring, drift, feedback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2011680" cy="530352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8E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3 000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40080" y="4690872"/>
            <a:ext cx="2011680" cy="310896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Dataset validé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2926080" y="4160520"/>
            <a:ext cx="2011680" cy="530352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9F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84.3%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926080" y="4690872"/>
            <a:ext cx="2011680" cy="310896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Taux d'attaque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5212080" y="4160520"/>
            <a:ext cx="2011680" cy="530352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7E7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0.941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212080" y="4690872"/>
            <a:ext cx="2011680" cy="310896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Meilleur F1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498080" y="4160520"/>
            <a:ext cx="2011680" cy="530352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D9CD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0.956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498080" y="4690872"/>
            <a:ext cx="2011680" cy="310896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ROC-AUC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9829800" y="4315968"/>
            <a:ext cx="1463040" cy="274320"/>
          </a:xfrm>
          <a:prstGeom prst="rect">
            <a:avLst/>
          </a:prstGeom>
          <a:solidFill>
            <a:srgbClr val="0A1525"/>
          </a:solidFill>
          <a:ln>
            <a:solidFill>
              <a:srgbClr val="27E7A6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E7A6"/>
                </a:solidFill>
              </a:rPr>
              <a:t>MLOps end-to-end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Plan de la présentation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Une démonstration orientée cycle de vie, pas seulement métriques ML.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94360" cy="420624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Dataset CICIoT2023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18013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Origine, ingestion, validation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587752"/>
            <a:ext cx="320040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417320"/>
            <a:ext cx="594360" cy="420624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02936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Pipeline ML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02936" y="18013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DVC, features, modèles, résultats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53128" y="2587752"/>
            <a:ext cx="320040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0456" y="1417320"/>
            <a:ext cx="594360" cy="420624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70264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Tracking &amp; registry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70264" y="18013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MLflow et model card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0456" y="2587752"/>
            <a:ext cx="320040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594360" cy="420624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5608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Déploiement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35608" y="38587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FastAPI, Docker, Streamlit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645152"/>
            <a:ext cx="320040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53128" y="3474720"/>
            <a:ext cx="594360" cy="420624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02936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Monitoring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02936" y="38587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Prometheus, Grafana, Evidently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53128" y="4645152"/>
            <a:ext cx="320040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0456" y="3474720"/>
            <a:ext cx="594360" cy="420624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70264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Automation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70264" y="385876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Airflow et GitHub Actions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0456" y="4645152"/>
            <a:ext cx="320040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Données : CICIoT2023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Dataset réel de cybersécurité IoT, publié en 2023 par le Canadian Institute for Cybersecurity.</a:t>
            </a:r>
            <a:endParaRPr lang="en-US" sz="950" dirty="0"/>
          </a:p>
        </p:txBody>
      </p:sp>
      <p:pic>
        <p:nvPicPr>
          <p:cNvPr id="6" name="Image 0" descr="C:\Users\fadia\OneDrive\Bureau\Projet ML\screenshots\02_ciciot2023_ingestion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305423"/>
            <a:ext cx="5532120" cy="201855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143000"/>
            <a:ext cx="553212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1234440"/>
            <a:ext cx="466344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D7DEE9"/>
                </a:solidFill>
              </a:rPr>
              <a:t>105 appareils IoT et 33 attaques dans le benchmark complet</a:t>
            </a:r>
            <a:endParaRPr lang="en-US" sz="1450" dirty="0"/>
          </a:p>
          <a:p>
            <a:r>
              <a:rPr lang="en-US" sz="1450" dirty="0">
                <a:solidFill>
                  <a:srgbClr val="D7DEE9"/>
                </a:solidFill>
              </a:rPr>
              <a:t>Échantillon reproductible : 3 000 flux validés</a:t>
            </a:r>
            <a:endParaRPr lang="en-US" sz="1450" dirty="0"/>
          </a:p>
          <a:p>
            <a:r>
              <a:rPr lang="en-US" sz="1450" dirty="0">
                <a:solidFill>
                  <a:srgbClr val="D7DEE9"/>
                </a:solidFill>
              </a:rPr>
              <a:t>Cible : is_attack</a:t>
            </a:r>
            <a:endParaRPr lang="en-US" sz="1450" dirty="0"/>
          </a:p>
          <a:p>
            <a:r>
              <a:rPr lang="en-US" sz="1450" dirty="0">
                <a:solidFill>
                  <a:srgbClr val="D7DEE9"/>
                </a:solidFill>
              </a:rPr>
              <a:t>Enrichissements SOC pour les vues : pays, IP, serveur, sévérité</a:t>
            </a:r>
            <a:endParaRPr lang="en-US" sz="1450" dirty="0"/>
          </a:p>
          <a:p>
            <a:r>
              <a:rPr lang="en-US" sz="1450" dirty="0">
                <a:solidFill>
                  <a:srgbClr val="D7DEE9"/>
                </a:solidFill>
              </a:rPr>
              <a:t>Fenêtres référence/courante pour le drift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4956048"/>
            <a:ext cx="2011680" cy="274320"/>
          </a:xfrm>
          <a:prstGeom prst="rect">
            <a:avLst/>
          </a:prstGeom>
          <a:solidFill>
            <a:srgbClr val="0A1525"/>
          </a:solidFill>
          <a:ln>
            <a:solidFill>
              <a:srgbClr val="38E8FF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E8FF"/>
                </a:solidFill>
              </a:rPr>
              <a:t>Data versioning avec DVC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971800" y="4956048"/>
            <a:ext cx="2240280" cy="274320"/>
          </a:xfrm>
          <a:prstGeom prst="rect">
            <a:avLst/>
          </a:prstGeom>
          <a:solidFill>
            <a:srgbClr val="0A1525"/>
          </a:solidFill>
          <a:ln>
            <a:solidFill>
              <a:srgbClr val="27E7A6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E7A6"/>
                </a:solidFill>
              </a:rPr>
              <a:t>Validation Great Expectations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Architecture MLOps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Flux complet : data, training, registry, serving, monitoring et feedback.</a:t>
            </a:r>
            <a:endParaRPr lang="en-US" sz="950" dirty="0"/>
          </a:p>
        </p:txBody>
      </p:sp>
      <p:pic>
        <p:nvPicPr>
          <p:cNvPr id="6" name="Image 0" descr="C:\Users\fadia\OneDrive\Bureau\Projet ML\screenshots\architectur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078992"/>
            <a:ext cx="10533888" cy="52669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78992"/>
            <a:ext cx="11384280" cy="5266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Pipeline reproductible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DVC formalise les dépendances, sorties et métriques du projet.</a:t>
            </a:r>
            <a:endParaRPr lang="en-US" sz="950" dirty="0"/>
          </a:p>
        </p:txBody>
      </p:sp>
      <p:pic>
        <p:nvPicPr>
          <p:cNvPr id="6" name="Image 0" descr="C:\Users\fadia\OneDrive\Bureau\Projet ML\screenshots\04_dvc_pipeline_ciciot2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531" y="1170432"/>
            <a:ext cx="4507177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70432"/>
            <a:ext cx="530352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325880"/>
            <a:ext cx="502920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D7DEE9"/>
                </a:solidFill>
              </a:rPr>
              <a:t>generate_data : ingestion CICIoT2023</a:t>
            </a:r>
            <a:endParaRPr lang="en-US" sz="1450" dirty="0"/>
          </a:p>
          <a:p>
            <a:r>
              <a:rPr lang="en-US" sz="1450" dirty="0">
                <a:solidFill>
                  <a:srgbClr val="D7DEE9"/>
                </a:solidFill>
              </a:rPr>
              <a:t>validate_data : schéma, target, taux d'attaque</a:t>
            </a:r>
            <a:endParaRPr lang="en-US" sz="1450" dirty="0"/>
          </a:p>
          <a:p>
            <a:r>
              <a:rPr lang="en-US" sz="1450" dirty="0">
                <a:solidFill>
                  <a:srgbClr val="D7DEE9"/>
                </a:solidFill>
              </a:rPr>
              <a:t>train_model : comparaison et export modèle</a:t>
            </a:r>
            <a:endParaRPr lang="en-US" sz="1450" dirty="0"/>
          </a:p>
          <a:p>
            <a:r>
              <a:rPr lang="en-US" sz="1450" dirty="0">
                <a:solidFill>
                  <a:srgbClr val="D7DEE9"/>
                </a:solidFill>
              </a:rPr>
              <a:t>drift_report : Evidently HTML + JSON</a:t>
            </a:r>
            <a:endParaRPr lang="en-US" sz="1450" dirty="0"/>
          </a:p>
          <a:p>
            <a:r>
              <a:rPr lang="en-US" sz="1450" dirty="0">
                <a:solidFill>
                  <a:srgbClr val="D7DEE9"/>
                </a:solidFill>
              </a:rPr>
              <a:t>great_expectations : validation formalisée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4652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E7A6"/>
                </a:solidFill>
              </a:rPr>
              <a:t>Commande clé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46520" y="4526280"/>
            <a:ext cx="4892040" cy="731520"/>
          </a:xfrm>
          <a:prstGeom prst="rect">
            <a:avLst/>
          </a:prstGeom>
          <a:solidFill>
            <a:srgbClr val="050B14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.\.venv\Scripts\dvc.exe repro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.\.venv\Scripts\dvc.exe metrics show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Expérimentation modèle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Trois modèles comparés, sélection par F1-score.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25880"/>
          <a:ext cx="5166360" cy="1920240"/>
        </p:xfrm>
        <a:graphic>
          <a:graphicData uri="http://schemas.openxmlformats.org/drawingml/2006/table">
            <a:tbl>
              <a:tblPr/>
              <a:tblGrid>
                <a:gridCol w="1291590"/>
                <a:gridCol w="1291590"/>
                <a:gridCol w="1291590"/>
                <a:gridCol w="129159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Modèle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ROC-AUC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Logistic Regression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0.835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0.892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Random Forest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0.891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0.961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Gradient Boosting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0.903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0.941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0.956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13232" y="3931920"/>
            <a:ext cx="1828800" cy="530352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7E7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Gradient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13232" y="4462272"/>
            <a:ext cx="1828800" cy="310896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Modèle choisi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2788920" y="3931920"/>
            <a:ext cx="1645920" cy="530352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7E7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0.941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2788920" y="4462272"/>
            <a:ext cx="1645920" cy="310896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F1-score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4681728" y="3931920"/>
            <a:ext cx="1645920" cy="530352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8E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0.921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4681728" y="4462272"/>
            <a:ext cx="1645920" cy="310896"/>
          </a:xfrm>
          <a:prstGeom prst="rect">
            <a:avLst/>
          </a:prstGeom>
          <a:solidFill>
            <a:srgbClr val="0D1B2E"/>
          </a:solidFill>
          <a:ln>
            <a:solidFill>
              <a:srgbClr val="22314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Recall</a:t>
            </a:r>
            <a:endParaRPr lang="en-US" sz="830" dirty="0"/>
          </a:p>
        </p:txBody>
      </p:sp>
      <p:pic>
        <p:nvPicPr>
          <p:cNvPr id="13" name="Image 0" descr="C:\Users\fadia\OneDrive\Bureau\Projet ML\screenshots\03_training_metrics_ciciot2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45824"/>
            <a:ext cx="4983480" cy="35297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92240" y="1170432"/>
            <a:ext cx="498348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Tracking et registry MLflow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Chaque run conserve paramètres, métriques, artefacts et modèle.</a:t>
            </a:r>
            <a:endParaRPr lang="en-US" sz="950" dirty="0"/>
          </a:p>
        </p:txBody>
      </p:sp>
      <p:pic>
        <p:nvPicPr>
          <p:cNvPr id="6" name="Image 0" descr="C:\Users\fadia\OneDrive\Bureau\Projet ML\screenshots\06_mlflow_registry_ciciot2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697205"/>
            <a:ext cx="5349240" cy="11252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133856"/>
            <a:ext cx="5349240" cy="4251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pic>
        <p:nvPicPr>
          <p:cNvPr id="8" name="Image 1" descr="C:\Users\fadia\OneDrive\Bureau\Projet ML\screenshots\22_mlflow_run_details_metrics_artifac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77480"/>
            <a:ext cx="5349240" cy="27647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133856"/>
            <a:ext cx="5349240" cy="4251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5650992"/>
            <a:ext cx="1143000" cy="274320"/>
          </a:xfrm>
          <a:prstGeom prst="rect">
            <a:avLst/>
          </a:prstGeom>
          <a:solidFill>
            <a:srgbClr val="0A1525"/>
          </a:solidFill>
          <a:ln>
            <a:solidFill>
              <a:srgbClr val="38E8FF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E8FF"/>
                </a:solidFill>
              </a:rPr>
              <a:t>Tracking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2212848" y="5650992"/>
            <a:ext cx="1143000" cy="274320"/>
          </a:xfrm>
          <a:prstGeom prst="rect">
            <a:avLst/>
          </a:prstGeom>
          <a:solidFill>
            <a:srgbClr val="0A1525"/>
          </a:solidFill>
          <a:ln>
            <a:solidFill>
              <a:srgbClr val="27E7A6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E7A6"/>
                </a:solidFill>
              </a:rPr>
              <a:t>Registry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315200" y="5650992"/>
            <a:ext cx="1143000" cy="274320"/>
          </a:xfrm>
          <a:prstGeom prst="rect">
            <a:avLst/>
          </a:prstGeom>
          <a:solidFill>
            <a:srgbClr val="0A1525"/>
          </a:solidFill>
          <a:ln>
            <a:solidFill>
              <a:srgbClr val="FF9F1C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1C"/>
                </a:solidFill>
              </a:rPr>
              <a:t>Artifacts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613648" y="5650992"/>
            <a:ext cx="1325880" cy="274320"/>
          </a:xfrm>
          <a:prstGeom prst="rect">
            <a:avLst/>
          </a:prstGeom>
          <a:solidFill>
            <a:srgbClr val="0A1525"/>
          </a:solidFill>
          <a:ln>
            <a:solidFill>
              <a:srgbClr val="27E7A6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E7A6"/>
                </a:solidFill>
              </a:rPr>
              <a:t>Model card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Déploiement et serving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FastAPI expose l'inférence temps réel, batch et les métriques Prometheus.</a:t>
            </a:r>
            <a:endParaRPr lang="en-US" sz="950" dirty="0"/>
          </a:p>
        </p:txBody>
      </p:sp>
      <p:pic>
        <p:nvPicPr>
          <p:cNvPr id="6" name="Image 0" descr="C:\Users\fadia\OneDrive\Bureau\Projet ML\screenshots\07_fastapi_docs_ciciot2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57174"/>
            <a:ext cx="5303520" cy="26601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15568"/>
            <a:ext cx="530352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pic>
        <p:nvPicPr>
          <p:cNvPr id="8" name="Image 1" descr="C:\Users\fadia\OneDrive\Bureau\Projet ML\screenshots\08_prediction_respo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995" y="1115568"/>
            <a:ext cx="4864810" cy="4343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115568"/>
            <a:ext cx="530352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5577840"/>
            <a:ext cx="102412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D7DEE9"/>
                </a:solidFill>
              </a:rPr>
              <a:t>/health : disponibilité</a:t>
            </a:r>
            <a:endParaRPr lang="en-US" sz="1050" dirty="0"/>
          </a:p>
          <a:p>
            <a:r>
              <a:rPr lang="en-US" sz="1050" dirty="0">
                <a:solidFill>
                  <a:srgbClr val="D7DEE9"/>
                </a:solidFill>
              </a:rPr>
              <a:t>/predict : scoring temps réel</a:t>
            </a:r>
            <a:endParaRPr lang="en-US" sz="1050" dirty="0"/>
          </a:p>
          <a:p>
            <a:r>
              <a:rPr lang="en-US" sz="1050" dirty="0">
                <a:solidFill>
                  <a:srgbClr val="D7DEE9"/>
                </a:solidFill>
              </a:rPr>
              <a:t>/batch-predict : scoring multiple</a:t>
            </a:r>
            <a:endParaRPr lang="en-US" sz="1050" dirty="0"/>
          </a:p>
          <a:p>
            <a:r>
              <a:rPr lang="en-US" sz="1050" dirty="0">
                <a:solidFill>
                  <a:srgbClr val="D7DEE9"/>
                </a:solidFill>
              </a:rPr>
              <a:t>/metrics : exposition Prometheus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Stack Docker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Un environnement reproductible pour présenter tous les services.</a:t>
            </a:r>
            <a:endParaRPr lang="en-US" sz="950" dirty="0"/>
          </a:p>
        </p:txBody>
      </p:sp>
      <p:pic>
        <p:nvPicPr>
          <p:cNvPr id="6" name="Image 0" descr="C:\Users\fadia\OneDrive\Bureau\Projet ML\screenshots\09_docker_services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8131"/>
            <a:ext cx="6400800" cy="35645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097280"/>
            <a:ext cx="640080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43800" y="1261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0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E7A6"/>
                </a:solidFill>
              </a:rPr>
              <a:t>8000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0" y="1655064"/>
            <a:ext cx="352044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43800" y="1920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mlflow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0" y="1920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E7A6"/>
                </a:solidFill>
              </a:rPr>
              <a:t>5001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98080" y="2313432"/>
            <a:ext cx="352044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prometheus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0" y="25786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E7A6"/>
                </a:solidFill>
              </a:rPr>
              <a:t>9090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498080" y="2971800"/>
            <a:ext cx="352044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3800" y="3236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grafana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58400" y="32369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E7A6"/>
                </a:solidFill>
              </a:rPr>
              <a:t>3000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8080" y="3630168"/>
            <a:ext cx="352044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43800" y="38953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soc-ui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058400" y="38953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E7A6"/>
                </a:solidFill>
              </a:rPr>
              <a:t>8501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498080" y="4288536"/>
            <a:ext cx="352044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43800" y="4553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airflow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058400" y="45537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E7A6"/>
                </a:solidFill>
              </a:rPr>
              <a:t>8080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98080" y="4946904"/>
            <a:ext cx="3520440" cy="0"/>
          </a:xfrm>
          <a:prstGeom prst="line">
            <a:avLst/>
          </a:prstGeom>
          <a:noFill/>
          <a:ln w="12700">
            <a:solidFill>
              <a:srgbClr val="22314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0" y="54406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E7A6"/>
                </a:solidFill>
              </a:rPr>
              <a:t>Commande de présentation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498080" y="5742432"/>
            <a:ext cx="3977640" cy="402336"/>
          </a:xfrm>
          <a:prstGeom prst="rect">
            <a:avLst/>
          </a:prstGeom>
          <a:solidFill>
            <a:srgbClr val="050B1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D7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--profile airflow up -d mlflow api prometheus grafana airflow soc-ui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Monitoring SOC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Prometheus collecte, Grafana rend les signaux exploitables.</a:t>
            </a:r>
            <a:endParaRPr lang="en-US" sz="950" dirty="0"/>
          </a:p>
        </p:txBody>
      </p:sp>
      <p:pic>
        <p:nvPicPr>
          <p:cNvPr id="6" name="Image 0" descr="C:\Users\fadia\OneDrive\Bureau\Projet ML\screenshots\11_grafana_soc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977" y="960120"/>
            <a:ext cx="9587285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960120"/>
            <a:ext cx="1120140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9893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DEE9"/>
                </a:solidFill>
              </a:rPr>
              <a:t>Signaux surveillés : disponibilité API · débit · latence p95 · ratio d'attaques · sévérité · pays sources · serveurs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Drift et observabilité ML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Evidently compare une fenêtre de référence et une fenêtre courante.</a:t>
            </a:r>
            <a:endParaRPr lang="en-US" sz="950" dirty="0"/>
          </a:p>
        </p:txBody>
      </p:sp>
      <p:pic>
        <p:nvPicPr>
          <p:cNvPr id="6" name="Image 0" descr="C:\Users\fadia\OneDrive\Bureau\Projet ML\screenshots\12_evidently_drift_ht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97497"/>
            <a:ext cx="5669280" cy="29795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15568"/>
            <a:ext cx="5669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pic>
        <p:nvPicPr>
          <p:cNvPr id="8" name="Image 1" descr="C:\Users\fadia\OneDrive\Bureau\Projet ML\screenshots\13_soc_threat_report_htm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76962"/>
            <a:ext cx="5074920" cy="262061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92240" y="1115568"/>
            <a:ext cx="507492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5650992"/>
            <a:ext cx="2148840" cy="274320"/>
          </a:xfrm>
          <a:prstGeom prst="rect">
            <a:avLst/>
          </a:prstGeom>
          <a:solidFill>
            <a:srgbClr val="0A1525"/>
          </a:solidFill>
          <a:ln>
            <a:solidFill>
              <a:srgbClr val="FF9F1C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1C"/>
                </a:solidFill>
              </a:rPr>
              <a:t>Drift détecté : variance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657600" y="5650992"/>
            <a:ext cx="2011680" cy="274320"/>
          </a:xfrm>
          <a:prstGeom prst="rect">
            <a:avLst/>
          </a:prstGeom>
          <a:solidFill>
            <a:srgbClr val="0A1525"/>
          </a:solidFill>
          <a:ln>
            <a:solidFill>
              <a:srgbClr val="38E8FF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E8FF"/>
                </a:solidFill>
              </a:rPr>
              <a:t>Reference: 2 100 lignes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903720" y="5650992"/>
            <a:ext cx="1874520" cy="274320"/>
          </a:xfrm>
          <a:prstGeom prst="rect">
            <a:avLst/>
          </a:prstGeom>
          <a:solidFill>
            <a:srgbClr val="0A1525"/>
          </a:solidFill>
          <a:ln>
            <a:solidFill>
              <a:srgbClr val="27E7A6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E7A6"/>
                </a:solidFill>
              </a:rPr>
              <a:t>Current: 900 lignes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Orchestration et CI/CD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Airflow orchestre, GitHub Actions vérifie la qualité et les builds.</a:t>
            </a:r>
            <a:endParaRPr lang="en-US" sz="950" dirty="0"/>
          </a:p>
        </p:txBody>
      </p:sp>
      <p:pic>
        <p:nvPicPr>
          <p:cNvPr id="6" name="Image 0" descr="C:\Users\fadia\OneDrive\Bureau\Projet ML\screenshots\21_airflow_dag_graph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63291"/>
            <a:ext cx="5166360" cy="27016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133856"/>
            <a:ext cx="51663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pic>
        <p:nvPicPr>
          <p:cNvPr id="8" name="Image 1" descr="C:\Users\fadia\OneDrive\Bureau\Projet ML\screenshots\15_github_repo_a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442022"/>
            <a:ext cx="5166360" cy="154418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133856"/>
            <a:ext cx="51663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532120"/>
            <a:ext cx="107899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D7DEE9"/>
                </a:solidFill>
              </a:rPr>
              <a:t>Airflow : DAG visible et tâches en succès</a:t>
            </a:r>
            <a:endParaRPr lang="en-US" sz="1050" dirty="0"/>
          </a:p>
          <a:p>
            <a:r>
              <a:rPr lang="en-US" sz="1050" dirty="0">
                <a:solidFill>
                  <a:srgbClr val="D7DEE9"/>
                </a:solidFill>
              </a:rPr>
              <a:t>GitHub Actions : Black, isort, Ruff, MyPy, Pytest</a:t>
            </a:r>
            <a:endParaRPr lang="en-US" sz="1050" dirty="0"/>
          </a:p>
          <a:p>
            <a:r>
              <a:rPr lang="en-US" sz="1050" dirty="0">
                <a:solidFill>
                  <a:srgbClr val="D7DEE9"/>
                </a:solidFill>
              </a:rPr>
              <a:t>Build Docker API + Streamlit SOC UI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Interface SOC Analyste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La couche métier qui rend le modèle exploitable en démonstration.</a:t>
            </a:r>
            <a:endParaRPr lang="en-US" sz="950" dirty="0"/>
          </a:p>
        </p:txBody>
      </p:sp>
      <p:pic>
        <p:nvPicPr>
          <p:cNvPr id="6" name="Image 0" descr="C:\Users\fadia\OneDrive\Bureau\Projet ML\screenshots\16_streamlit_soc_analyst_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73161"/>
            <a:ext cx="6400800" cy="31836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987552"/>
            <a:ext cx="6400800" cy="4754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60920" y="1325880"/>
            <a:ext cx="416052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D7DEE9"/>
                </a:solidFill>
              </a:rPr>
              <a:t>Vue SOC : KPI, sévérité, map</a:t>
            </a:r>
            <a:endParaRPr lang="en-US" sz="1400" dirty="0"/>
          </a:p>
          <a:p>
            <a:r>
              <a:rPr lang="en-US" sz="1400" dirty="0">
                <a:solidFill>
                  <a:srgbClr val="D7DEE9"/>
                </a:solidFill>
              </a:rPr>
              <a:t>Analyst Queue : événements prioritaires</a:t>
            </a:r>
            <a:endParaRPr lang="en-US" sz="1400" dirty="0"/>
          </a:p>
          <a:p>
            <a:r>
              <a:rPr lang="en-US" sz="1400" dirty="0">
                <a:solidFill>
                  <a:srgbClr val="D7DEE9"/>
                </a:solidFill>
              </a:rPr>
              <a:t>Live scoring : appel FastAPI</a:t>
            </a:r>
            <a:endParaRPr lang="en-US" sz="1400" dirty="0"/>
          </a:p>
          <a:p>
            <a:r>
              <a:rPr lang="en-US" sz="1400" dirty="0">
                <a:solidFill>
                  <a:srgbClr val="D7DEE9"/>
                </a:solidFill>
              </a:rPr>
              <a:t>Model Evidence : métriques, validation, drift</a:t>
            </a:r>
            <a:endParaRPr lang="en-US" sz="1400" dirty="0"/>
          </a:p>
          <a:p>
            <a:r>
              <a:rPr lang="en-US" sz="1400" dirty="0">
                <a:solidFill>
                  <a:srgbClr val="D7DEE9"/>
                </a:solidFill>
              </a:rPr>
              <a:t>Case Export : note d'incident Markdown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06640" y="4892040"/>
            <a:ext cx="2194560" cy="274320"/>
          </a:xfrm>
          <a:prstGeom prst="rect">
            <a:avLst/>
          </a:prstGeom>
          <a:solidFill>
            <a:srgbClr val="0A1525"/>
          </a:solidFill>
          <a:ln>
            <a:solidFill>
              <a:srgbClr val="27E7A6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E7A6"/>
                </a:solidFill>
              </a:rPr>
              <a:t>http://localhost:8501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Parcours de démonstration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Ordre conseillé pour présenter sans perdre le fil.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9808" y="1261872"/>
            <a:ext cx="438912" cy="438912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GitHub Actions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Qualité et CI validées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53128" y="1261872"/>
            <a:ext cx="438912" cy="438912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4920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FastAPI docs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492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Tester /health et /predict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56448" y="1261872"/>
            <a:ext cx="438912" cy="438912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8240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MLflow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7824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Run, métriques, artifacts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410712"/>
            <a:ext cx="438912" cy="438912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410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Grafana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Dashboard SOC après replay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53128" y="3410712"/>
            <a:ext cx="438912" cy="438912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4920" y="3410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Streamlit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7492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Triage + live scoring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56448" y="3410712"/>
            <a:ext cx="438912" cy="438912"/>
          </a:xfrm>
          <a:prstGeom prst="rect">
            <a:avLst/>
          </a:prstGeom>
          <a:solidFill>
            <a:srgbClr val="27E7A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78240" y="3410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Airflow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824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</a:rPr>
              <a:t>DAG graph et succès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574243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E8FF"/>
                </a:solidFill>
              </a:rPr>
              <a:t>Avant la démo : lancer Docker Compose puis rejouer 800-1200 lignes CICIoT2023 pour remplir les graphes.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Gouvernance et limites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Un modèle cyber doit être traçable et surveillé.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530352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D7DEE9"/>
                </a:solidFill>
              </a:rPr>
              <a:t>Échantillon reproductible, pas dataset complet 38M+ lignes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Enrichissements SOC exclus des features pour éviter le leakage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Model card : usage prévu, features, limites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Drift : signal de revue ou réentraînement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Inférence hybride : API ou modèle local après DVC checkout</a:t>
            </a:r>
            <a:endParaRPr lang="en-US" sz="1500" dirty="0"/>
          </a:p>
        </p:txBody>
      </p:sp>
      <p:pic>
        <p:nvPicPr>
          <p:cNvPr id="7" name="Image 0" descr="C:\Users\fadia\OneDrive\Bureau\Projet ML\screenshots\19_streamlit_Model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21979"/>
            <a:ext cx="5166360" cy="268485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024128"/>
            <a:ext cx="516636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3149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166360"/>
            <a:ext cx="1325880" cy="274320"/>
          </a:xfrm>
          <a:prstGeom prst="rect">
            <a:avLst/>
          </a:prstGeom>
          <a:solidFill>
            <a:srgbClr val="0A1525"/>
          </a:solidFill>
          <a:ln>
            <a:solidFill>
              <a:srgbClr val="27E7A6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E7A6"/>
                </a:solidFill>
              </a:rPr>
              <a:t>Traçabilité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377440" y="5166360"/>
            <a:ext cx="1005840" cy="274320"/>
          </a:xfrm>
          <a:prstGeom prst="rect">
            <a:avLst/>
          </a:prstGeom>
          <a:solidFill>
            <a:srgbClr val="0A1525"/>
          </a:solidFill>
          <a:ln>
            <a:solidFill>
              <a:srgbClr val="38E8FF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E8FF"/>
                </a:solidFill>
              </a:rPr>
              <a:t>Audit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611880" y="5166360"/>
            <a:ext cx="1600200" cy="274320"/>
          </a:xfrm>
          <a:prstGeom prst="rect">
            <a:avLst/>
          </a:prstGeom>
          <a:solidFill>
            <a:srgbClr val="0A1525"/>
          </a:solidFill>
          <a:ln>
            <a:solidFill>
              <a:srgbClr val="FF9F1C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1C"/>
                </a:solidFill>
              </a:rPr>
              <a:t>Feedback loop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E8FF"/>
          </a:solidFill>
          <a:ln w="12700">
            <a:solidFill>
              <a:srgbClr val="38E8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CyberGuard MLOps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3C7"/>
                </a:solidFill>
              </a:rPr>
              <a:t>CyberGuard couvre le cycle MLOps demandé et ajoute une couche SOC moderne.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86384" y="1234440"/>
            <a:ext cx="516636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D7DEE9"/>
                </a:solidFill>
              </a:rPr>
              <a:t>Données réelles CICIoT2023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Pipeline DVC + validation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Tracking/registry MLflow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API FastAPI + Docker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Monitoring Prometheus/Grafana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Drift Evidently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Airflow + GitHub Actions</a:t>
            </a:r>
            <a:endParaRPr lang="en-US" sz="1500" dirty="0"/>
          </a:p>
          <a:p>
            <a:r>
              <a:rPr lang="en-US" sz="1500" dirty="0">
                <a:solidFill>
                  <a:srgbClr val="D7DEE9"/>
                </a:solidFill>
              </a:rPr>
              <a:t>Streamlit SOC 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2084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E7A6"/>
                </a:solidFill>
              </a:rPr>
              <a:t>Résultat clé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17830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F1-score 0.941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ROC-AUC 0.956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720840" y="3063240"/>
            <a:ext cx="3429000" cy="0"/>
          </a:xfrm>
          <a:prstGeom prst="line">
            <a:avLst/>
          </a:prstGeom>
          <a:noFill/>
          <a:ln w="15240">
            <a:solidFill>
              <a:srgbClr val="38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E7A6"/>
                </a:solidFill>
              </a:rPr>
              <a:t>Prochaine étape possible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3840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7DEE9"/>
                </a:solidFill>
              </a:rPr>
              <a:t>Kubernetes, feedback analyste en base, promotion automatique du modèle et concept drift supervisé.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20840" y="5349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E8FF"/>
                </a:solidFill>
              </a:rPr>
              <a:t>Questions 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CI2 CYBER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CyberGuard MLOps</dc:title>
  <dc:subject>CyberGuard MLOps - Présentation Projet Machine Learning</dc:subject>
  <dc:creator>AICH FADI, YOUSSOUF KEITA, LEKOGHO OSSIE CELESTIN CALVINE KILLIAN, MAALLEM MEHDI</dc:creator>
  <cp:lastModifiedBy>AICH FADI, YOUSSOUF KEITA, LEKOGHO OSSIE CELESTIN CALVINE KILLIAN, MAALLEM MEHDI</cp:lastModifiedBy>
  <cp:revision>1</cp:revision>
  <dcterms:created xsi:type="dcterms:W3CDTF">2026-05-07T17:13:51Z</dcterms:created>
  <dcterms:modified xsi:type="dcterms:W3CDTF">2026-05-07T17:13:51Z</dcterms:modified>
</cp:coreProperties>
</file>